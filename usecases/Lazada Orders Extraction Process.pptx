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Montserrat"/>
      <p:regular r:id="rId15"/>
      <p:bold r:id="rId16"/>
      <p:italic r:id="rId17"/>
      <p:boldItalic r:id="rId18"/>
    </p:embeddedFont>
    <p:embeddedFont>
      <p:font typeface="Lato"/>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bold.fntdata"/><Relationship Id="rId11" Type="http://schemas.openxmlformats.org/officeDocument/2006/relationships/slide" Target="slides/slide6.xml"/><Relationship Id="rId22" Type="http://schemas.openxmlformats.org/officeDocument/2006/relationships/font" Target="fonts/Lato-boldItalic.fntdata"/><Relationship Id="rId10" Type="http://schemas.openxmlformats.org/officeDocument/2006/relationships/slide" Target="slides/slide5.xml"/><Relationship Id="rId21" Type="http://schemas.openxmlformats.org/officeDocument/2006/relationships/font" Target="fonts/Lato-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Montserrat-regular.fntdata"/><Relationship Id="rId14" Type="http://schemas.openxmlformats.org/officeDocument/2006/relationships/slide" Target="slides/slide9.xml"/><Relationship Id="rId17" Type="http://schemas.openxmlformats.org/officeDocument/2006/relationships/font" Target="fonts/Montserrat-italic.fntdata"/><Relationship Id="rId16" Type="http://schemas.openxmlformats.org/officeDocument/2006/relationships/font" Target="fonts/Montserrat-bold.fntdata"/><Relationship Id="rId5" Type="http://schemas.openxmlformats.org/officeDocument/2006/relationships/notesMaster" Target="notesMasters/notesMaster1.xml"/><Relationship Id="rId19" Type="http://schemas.openxmlformats.org/officeDocument/2006/relationships/font" Target="fonts/Lato-regular.fntdata"/><Relationship Id="rId6" Type="http://schemas.openxmlformats.org/officeDocument/2006/relationships/slide" Target="slides/slide1.xml"/><Relationship Id="rId18" Type="http://schemas.openxmlformats.org/officeDocument/2006/relationships/font" Target="fonts/Montserrat-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2fe6fdd9b68_0_5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2fe6fdd9b68_0_5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fe6fdd9b68_0_5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2fe6fdd9b68_0_5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2fe6fdd9b68_0_5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2fe6fdd9b68_0_5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2fe6fdd9b68_0_5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2fe6fdd9b68_0_5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2fe6fdd9b68_0_5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2fe6fdd9b68_0_5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2fe6fdd9b68_0_5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2fe6fdd9b68_0_5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2fe6fdd9b68_0_5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2fe6fdd9b68_0_5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fe6fdd9b68_0_5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2fe6fdd9b68_0_5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2fe6fdd9b68_0_5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2fe6fdd9b68_0_5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Lazada Orders Extraction Process </a:t>
            </a:r>
            <a:endParaRPr/>
          </a:p>
        </p:txBody>
      </p:sp>
      <p:sp>
        <p:nvSpPr>
          <p:cNvPr id="135" name="Google Shape;135;p13"/>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1. Get the access token </a:t>
            </a:r>
            <a:endParaRPr/>
          </a:p>
          <a:p>
            <a:pPr indent="0" lvl="0" marL="0" rtl="0" algn="l">
              <a:spcBef>
                <a:spcPts val="1200"/>
              </a:spcBef>
              <a:spcAft>
                <a:spcPts val="0"/>
              </a:spcAft>
              <a:buNone/>
            </a:pPr>
            <a:r>
              <a:rPr lang="en"/>
              <a:t>2. Retrieve all the orders that have a pending status</a:t>
            </a:r>
            <a:endParaRPr/>
          </a:p>
          <a:p>
            <a:pPr indent="0" lvl="0" marL="0" rtl="0" algn="l">
              <a:spcBef>
                <a:spcPts val="1200"/>
              </a:spcBef>
              <a:spcAft>
                <a:spcPts val="0"/>
              </a:spcAft>
              <a:buNone/>
            </a:pPr>
            <a:r>
              <a:rPr lang="en"/>
              <a:t>3. Get all the order items.</a:t>
            </a:r>
            <a:endParaRPr/>
          </a:p>
          <a:p>
            <a:pPr indent="0" lvl="0" marL="0" rtl="0" algn="l">
              <a:spcBef>
                <a:spcPts val="1200"/>
              </a:spcBef>
              <a:spcAft>
                <a:spcPts val="0"/>
              </a:spcAft>
              <a:buNone/>
            </a:pPr>
            <a:r>
              <a:rPr lang="en"/>
              <a:t>4. Then we get the list of active shipping providers.</a:t>
            </a:r>
            <a:endParaRPr/>
          </a:p>
          <a:p>
            <a:pPr indent="0" lvl="0" marL="0" rtl="0" algn="l">
              <a:spcBef>
                <a:spcPts val="1200"/>
              </a:spcBef>
              <a:spcAft>
                <a:spcPts val="0"/>
              </a:spcAft>
              <a:buNone/>
            </a:pPr>
            <a:r>
              <a:rPr lang="en"/>
              <a:t>5. Change the order status to packed.</a:t>
            </a:r>
            <a:endParaRPr/>
          </a:p>
          <a:p>
            <a:pPr indent="0" lvl="0" marL="0" rtl="0" algn="l">
              <a:spcBef>
                <a:spcPts val="1200"/>
              </a:spcBef>
              <a:spcAft>
                <a:spcPts val="0"/>
              </a:spcAft>
              <a:buNone/>
            </a:pPr>
            <a:r>
              <a:rPr lang="en"/>
              <a:t>6. Get the shipping labels.</a:t>
            </a:r>
            <a:endParaRPr/>
          </a:p>
          <a:p>
            <a:pPr indent="0" lvl="0" marL="0" rtl="0" algn="l">
              <a:spcBef>
                <a:spcPts val="1200"/>
              </a:spcBef>
              <a:spcAft>
                <a:spcPts val="0"/>
              </a:spcAft>
              <a:buNone/>
            </a:pPr>
            <a:r>
              <a:rPr lang="en"/>
              <a:t>7. Consolidate all the downloaded orders into an Excel.</a:t>
            </a:r>
            <a:endParaRPr/>
          </a:p>
          <a:p>
            <a:pPr indent="0" lvl="0" marL="0" rtl="0" algn="l">
              <a:spcBef>
                <a:spcPts val="1200"/>
              </a:spcBef>
              <a:spcAft>
                <a:spcPts val="0"/>
              </a:spcAft>
              <a:buNone/>
            </a:pPr>
            <a:r>
              <a:rPr lang="en"/>
              <a:t>8. Send to the bot to for processing and creating the orders in SAP</a:t>
            </a:r>
            <a:endParaRPr/>
          </a:p>
          <a:p>
            <a:pPr indent="0" lvl="0" marL="0" rtl="0" algn="l">
              <a:spcBef>
                <a:spcPts val="1200"/>
              </a:spcBef>
              <a:spcAft>
                <a:spcPts val="120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Return Order processing</a:t>
            </a:r>
            <a:endParaRPr/>
          </a:p>
        </p:txBody>
      </p:sp>
      <p:sp>
        <p:nvSpPr>
          <p:cNvPr id="141" name="Google Shape;141;p1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fontScale="32500"/>
          </a:bodyPr>
          <a:lstStyle/>
          <a:p>
            <a:pPr indent="-288449" lvl="0" marL="457200" rtl="0" algn="l">
              <a:spcBef>
                <a:spcPts val="0"/>
              </a:spcBef>
              <a:spcAft>
                <a:spcPts val="0"/>
              </a:spcAft>
              <a:buSzPct val="100000"/>
              <a:buChar char="●"/>
            </a:pPr>
            <a:r>
              <a:rPr lang="en" sz="2900"/>
              <a:t>Release Resources (System sanity)</a:t>
            </a:r>
            <a:endParaRPr sz="2900"/>
          </a:p>
          <a:p>
            <a:pPr indent="-288449" lvl="0" marL="457200" rtl="0" algn="l">
              <a:spcBef>
                <a:spcPts val="0"/>
              </a:spcBef>
              <a:spcAft>
                <a:spcPts val="0"/>
              </a:spcAft>
              <a:buSzPct val="100000"/>
              <a:buChar char="●"/>
            </a:pPr>
            <a:r>
              <a:rPr lang="en" sz="2900"/>
              <a:t>Restart the outlook..</a:t>
            </a:r>
            <a:endParaRPr sz="2900"/>
          </a:p>
          <a:p>
            <a:pPr indent="-288449" lvl="0" marL="457200" rtl="0" algn="l">
              <a:spcBef>
                <a:spcPts val="0"/>
              </a:spcBef>
              <a:spcAft>
                <a:spcPts val="0"/>
              </a:spcAft>
              <a:buSzPct val="100000"/>
              <a:buChar char="●"/>
            </a:pPr>
            <a:r>
              <a:rPr lang="en" sz="2900"/>
              <a:t>Read the email and download the Excel file that contains all the return orders in it..</a:t>
            </a:r>
            <a:endParaRPr sz="2900"/>
          </a:p>
          <a:p>
            <a:pPr indent="-288449" lvl="0" marL="457200" rtl="0" algn="l">
              <a:spcBef>
                <a:spcPts val="0"/>
              </a:spcBef>
              <a:spcAft>
                <a:spcPts val="0"/>
              </a:spcAft>
              <a:buSzPct val="100000"/>
              <a:buChar char="●"/>
            </a:pPr>
            <a:r>
              <a:rPr lang="en" sz="2900"/>
              <a:t>Check if the email is coming from an authorized sender.</a:t>
            </a:r>
            <a:endParaRPr sz="2900"/>
          </a:p>
          <a:p>
            <a:pPr indent="-288449" lvl="0" marL="457200" rtl="0" algn="l">
              <a:spcBef>
                <a:spcPts val="0"/>
              </a:spcBef>
              <a:spcAft>
                <a:spcPts val="0"/>
              </a:spcAft>
              <a:buSzPct val="100000"/>
              <a:buChar char="●"/>
            </a:pPr>
            <a:r>
              <a:rPr lang="en" sz="2900"/>
              <a:t>Perform validations to check if any data is missing</a:t>
            </a:r>
            <a:endParaRPr sz="2900"/>
          </a:p>
          <a:p>
            <a:pPr indent="-288449" lvl="0" marL="457200" rtl="0" algn="l">
              <a:spcBef>
                <a:spcPts val="0"/>
              </a:spcBef>
              <a:spcAft>
                <a:spcPts val="0"/>
              </a:spcAft>
              <a:buSzPct val="100000"/>
              <a:buChar char="●"/>
            </a:pPr>
            <a:r>
              <a:rPr lang="en" sz="2900"/>
              <a:t>If data is missing we will update it accordingly in the remarks column</a:t>
            </a:r>
            <a:endParaRPr sz="2900"/>
          </a:p>
          <a:p>
            <a:pPr indent="-288449" lvl="0" marL="457200" rtl="0" algn="l">
              <a:spcBef>
                <a:spcPts val="0"/>
              </a:spcBef>
              <a:spcAft>
                <a:spcPts val="0"/>
              </a:spcAft>
              <a:buSzPct val="100000"/>
              <a:buChar char="●"/>
            </a:pPr>
            <a:r>
              <a:rPr lang="en" sz="2900"/>
              <a:t>Retrieve Material Group and Principal Code for all Matched Records from BAPI RFC_READ_TABLE ~ MARA Table</a:t>
            </a:r>
            <a:endParaRPr sz="2900"/>
          </a:p>
          <a:p>
            <a:pPr indent="-288449" lvl="0" marL="457200" rtl="0" algn="l">
              <a:spcBef>
                <a:spcPts val="0"/>
              </a:spcBef>
              <a:spcAft>
                <a:spcPts val="0"/>
              </a:spcAft>
              <a:buSzPct val="100000"/>
              <a:buChar char="●"/>
            </a:pPr>
            <a:r>
              <a:rPr lang="en" sz="2900"/>
              <a:t>Check the client validations sheet if the principal accepts the material for that material group..</a:t>
            </a:r>
            <a:endParaRPr sz="2900"/>
          </a:p>
          <a:p>
            <a:pPr indent="-288449" lvl="0" marL="457200" rtl="0" algn="l">
              <a:spcBef>
                <a:spcPts val="0"/>
              </a:spcBef>
              <a:spcAft>
                <a:spcPts val="0"/>
              </a:spcAft>
              <a:buSzPct val="100000"/>
              <a:buChar char="●"/>
            </a:pPr>
            <a:r>
              <a:rPr lang="en" sz="2900"/>
              <a:t>If not accepted by the principal mark it as beyond policy. </a:t>
            </a:r>
            <a:endParaRPr sz="2900"/>
          </a:p>
          <a:p>
            <a:pPr indent="-288449" lvl="0" marL="457200" rtl="0" algn="l">
              <a:spcBef>
                <a:spcPts val="0"/>
              </a:spcBef>
              <a:spcAft>
                <a:spcPts val="0"/>
              </a:spcAft>
              <a:buSzPct val="100000"/>
              <a:buChar char="●"/>
            </a:pPr>
            <a:r>
              <a:rPr lang="en" sz="2900"/>
              <a:t>Utilize the HANA API to Obtain all Invoices related to the Item and for that within a Seven-Year Time Frame..</a:t>
            </a:r>
            <a:endParaRPr sz="2900"/>
          </a:p>
          <a:p>
            <a:pPr indent="-288449" lvl="0" marL="457200" rtl="0" algn="l">
              <a:spcBef>
                <a:spcPts val="0"/>
              </a:spcBef>
              <a:spcAft>
                <a:spcPts val="0"/>
              </a:spcAft>
              <a:buSzPct val="100000"/>
              <a:buChar char="●"/>
            </a:pPr>
            <a:r>
              <a:rPr lang="en" sz="2900"/>
              <a:t>Iterate over the invoices one by one until the return quantity is met.</a:t>
            </a:r>
            <a:endParaRPr sz="2900"/>
          </a:p>
          <a:p>
            <a:pPr indent="-288449" lvl="0" marL="457200" rtl="0" algn="l">
              <a:spcBef>
                <a:spcPts val="0"/>
              </a:spcBef>
              <a:spcAft>
                <a:spcPts val="0"/>
              </a:spcAft>
              <a:buSzPct val="100000"/>
              <a:buChar char="●"/>
            </a:pPr>
            <a:r>
              <a:rPr lang="en" sz="2900"/>
              <a:t>Consolidate all the invoices and divide into three categories unmatched beyond policy matched.</a:t>
            </a:r>
            <a:endParaRPr sz="2900"/>
          </a:p>
          <a:p>
            <a:pPr indent="-288449" lvl="0" marL="457200" rtl="0" algn="l">
              <a:spcBef>
                <a:spcPts val="0"/>
              </a:spcBef>
              <a:spcAft>
                <a:spcPts val="0"/>
              </a:spcAft>
              <a:buSzPct val="100000"/>
              <a:buChar char="●"/>
            </a:pPr>
            <a:r>
              <a:rPr lang="en" sz="2900"/>
              <a:t>Matched data are consolidated into a tab-delimited file.</a:t>
            </a:r>
            <a:endParaRPr sz="2900"/>
          </a:p>
          <a:p>
            <a:pPr indent="-288449" lvl="0" marL="457200" rtl="0" algn="l">
              <a:spcBef>
                <a:spcPts val="0"/>
              </a:spcBef>
              <a:spcAft>
                <a:spcPts val="0"/>
              </a:spcAft>
              <a:buSzPct val="100000"/>
              <a:buChar char="●"/>
            </a:pPr>
            <a:r>
              <a:rPr lang="en" sz="2900"/>
              <a:t>Beyond policies are returned via EZRX.</a:t>
            </a:r>
            <a:endParaRPr sz="2900"/>
          </a:p>
          <a:p>
            <a:pPr indent="0" lvl="0" marL="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Release Back Order</a:t>
            </a:r>
            <a:endParaRPr/>
          </a:p>
        </p:txBody>
      </p:sp>
      <p:sp>
        <p:nvSpPr>
          <p:cNvPr id="147" name="Google Shape;147;p15"/>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fontScale="77500" lnSpcReduction="20000"/>
          </a:bodyPr>
          <a:lstStyle/>
          <a:p>
            <a:pPr indent="-292576" lvl="0" marL="457200" rtl="0" algn="l">
              <a:spcBef>
                <a:spcPts val="0"/>
              </a:spcBef>
              <a:spcAft>
                <a:spcPts val="0"/>
              </a:spcAft>
              <a:buSzPct val="100000"/>
              <a:buChar char="●"/>
            </a:pPr>
            <a:r>
              <a:rPr lang="en"/>
              <a:t>System sanity</a:t>
            </a:r>
            <a:endParaRPr/>
          </a:p>
          <a:p>
            <a:pPr indent="-292576" lvl="0" marL="457200" rtl="0" algn="l">
              <a:spcBef>
                <a:spcPts val="0"/>
              </a:spcBef>
              <a:spcAft>
                <a:spcPts val="0"/>
              </a:spcAft>
              <a:buSzPct val="100000"/>
              <a:buChar char="●"/>
            </a:pPr>
            <a:r>
              <a:rPr lang="en"/>
              <a:t>T-code ZSSBO - Download all the list of available back orders.</a:t>
            </a:r>
            <a:endParaRPr/>
          </a:p>
          <a:p>
            <a:pPr indent="-292576" lvl="0" marL="457200" rtl="0" algn="l">
              <a:spcBef>
                <a:spcPts val="0"/>
              </a:spcBef>
              <a:spcAft>
                <a:spcPts val="0"/>
              </a:spcAft>
              <a:buSzPct val="100000"/>
              <a:buChar char="●"/>
            </a:pPr>
            <a:r>
              <a:rPr lang="en"/>
              <a:t>Filter the report by regular sales order ZPOR (ZPAP, ZPRE)</a:t>
            </a:r>
            <a:endParaRPr/>
          </a:p>
          <a:p>
            <a:pPr indent="-292576" lvl="0" marL="457200" rtl="0" algn="l">
              <a:spcBef>
                <a:spcPts val="0"/>
              </a:spcBef>
              <a:spcAft>
                <a:spcPts val="0"/>
              </a:spcAft>
              <a:buSzPct val="100000"/>
              <a:buChar char="●"/>
            </a:pPr>
            <a:r>
              <a:rPr lang="en"/>
              <a:t>From the material column extract the Principal using BAPI: BAPI_MATERIAL_GET_DETAIL</a:t>
            </a:r>
            <a:endParaRPr/>
          </a:p>
          <a:p>
            <a:pPr indent="-292576" lvl="0" marL="457200" rtl="0" algn="l">
              <a:spcBef>
                <a:spcPts val="0"/>
              </a:spcBef>
              <a:spcAft>
                <a:spcPts val="0"/>
              </a:spcAft>
              <a:buSzPct val="100000"/>
              <a:buChar char="●"/>
            </a:pPr>
            <a:r>
              <a:rPr lang="en"/>
              <a:t>Check for the Principals if these have been configured in the mapping file for Auto Release</a:t>
            </a:r>
            <a:endParaRPr/>
          </a:p>
          <a:p>
            <a:pPr indent="-292576" lvl="0" marL="457200" rtl="0" algn="l">
              <a:spcBef>
                <a:spcPts val="0"/>
              </a:spcBef>
              <a:spcAft>
                <a:spcPts val="0"/>
              </a:spcAft>
              <a:buSzPct val="100000"/>
              <a:buChar char="●"/>
            </a:pPr>
            <a:r>
              <a:rPr lang="en"/>
              <a:t>If yes consolidate all the Sales orders</a:t>
            </a:r>
            <a:endParaRPr/>
          </a:p>
          <a:p>
            <a:pPr indent="-292576" lvl="0" marL="457200" rtl="0" algn="l">
              <a:spcBef>
                <a:spcPts val="0"/>
              </a:spcBef>
              <a:spcAft>
                <a:spcPts val="0"/>
              </a:spcAft>
              <a:buSzPct val="100000"/>
              <a:buChar char="●"/>
            </a:pPr>
            <a:r>
              <a:rPr lang="en"/>
              <a:t>Use BAPISDORDER_GETDETAILEDLIST get the line item details and header details</a:t>
            </a:r>
            <a:endParaRPr/>
          </a:p>
          <a:p>
            <a:pPr indent="-292576" lvl="0" marL="457200" rtl="0" algn="l">
              <a:spcBef>
                <a:spcPts val="0"/>
              </a:spcBef>
              <a:spcAft>
                <a:spcPts val="0"/>
              </a:spcAft>
              <a:buSzPct val="100000"/>
              <a:buChar char="●"/>
            </a:pPr>
            <a:r>
              <a:rPr lang="en"/>
              <a:t>Check if the material is available BAPI_MATERIAL_AVAILABILITY</a:t>
            </a:r>
            <a:endParaRPr/>
          </a:p>
          <a:p>
            <a:pPr indent="-292576" lvl="0" marL="457200" rtl="0" algn="l">
              <a:spcBef>
                <a:spcPts val="0"/>
              </a:spcBef>
              <a:spcAft>
                <a:spcPts val="0"/>
              </a:spcAft>
              <a:buSzPct val="100000"/>
              <a:buChar char="●"/>
            </a:pPr>
            <a:r>
              <a:rPr lang="en"/>
              <a:t>If the material is available in stocks for release.</a:t>
            </a:r>
            <a:endParaRPr/>
          </a:p>
          <a:p>
            <a:pPr indent="-292576" lvl="0" marL="457200" rtl="0" algn="l">
              <a:spcBef>
                <a:spcPts val="0"/>
              </a:spcBef>
              <a:spcAft>
                <a:spcPts val="0"/>
              </a:spcAft>
              <a:buSzPct val="100000"/>
              <a:buChar char="●"/>
            </a:pPr>
            <a:r>
              <a:rPr lang="en"/>
              <a:t>If not available then mark it as rejected/To-be processed later.</a:t>
            </a:r>
            <a:endParaRPr/>
          </a:p>
          <a:p>
            <a:pPr indent="-292576" lvl="0" marL="457200" rtl="0" algn="l">
              <a:spcBef>
                <a:spcPts val="0"/>
              </a:spcBef>
              <a:spcAft>
                <a:spcPts val="0"/>
              </a:spcAft>
              <a:buSzPct val="100000"/>
              <a:buChar char="●"/>
            </a:pPr>
            <a:r>
              <a:rPr lang="en"/>
              <a:t>If available we will create a fresh sales order using BAPI_SALESORDER_CREATEFROMDAT2---&gt; BAPI_TRANSACTION_COMMIT</a:t>
            </a:r>
            <a:endParaRPr/>
          </a:p>
          <a:p>
            <a:pPr indent="-292576" lvl="0" marL="457200" rtl="0" algn="l">
              <a:spcBef>
                <a:spcPts val="0"/>
              </a:spcBef>
              <a:spcAft>
                <a:spcPts val="0"/>
              </a:spcAft>
              <a:buSzPct val="100000"/>
              <a:buChar char="●"/>
            </a:pPr>
            <a:r>
              <a:rPr lang="en"/>
              <a:t>Then we will change the old Sales order using BAPI_SALESORDER_CHANGE--&gt; line items released in the new order will be marked as rejected in the old SO as 90</a:t>
            </a:r>
            <a:endParaRPr/>
          </a:p>
          <a:p>
            <a:pPr indent="-292576" lvl="0" marL="457200" rtl="0" algn="l">
              <a:spcBef>
                <a:spcPts val="0"/>
              </a:spcBef>
              <a:spcAft>
                <a:spcPts val="0"/>
              </a:spcAft>
              <a:buSzPct val="100000"/>
              <a:buChar char="●"/>
            </a:pPr>
            <a:r>
              <a:rPr lang="en"/>
              <a:t>Then we create the BAPI_OUTB_DELIVERY_CREATE_SLS</a:t>
            </a:r>
            <a:endParaRPr/>
          </a:p>
          <a:p>
            <a:pPr indent="-292576" lvl="0" marL="457200" rtl="0" algn="l">
              <a:spcBef>
                <a:spcPts val="0"/>
              </a:spcBef>
              <a:spcAft>
                <a:spcPts val="0"/>
              </a:spcAft>
              <a:buSzPct val="100000"/>
              <a:buChar char="●"/>
            </a:pPr>
            <a:r>
              <a:rPr lang="en"/>
              <a:t>Following this we will make an Excel report stating what are the newly cleared back orders.</a:t>
            </a:r>
            <a:endParaRPr/>
          </a:p>
          <a:p>
            <a:pPr indent="0" lvl="0" marL="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Sales Order Processing</a:t>
            </a:r>
            <a:endParaRPr/>
          </a:p>
        </p:txBody>
      </p:sp>
      <p:sp>
        <p:nvSpPr>
          <p:cNvPr id="153" name="Google Shape;153;p16"/>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1. Read emails containing Sales Orders via Excel forms.</a:t>
            </a:r>
            <a:endParaRPr/>
          </a:p>
          <a:p>
            <a:pPr indent="0" lvl="0" marL="0" rtl="0" algn="l">
              <a:spcBef>
                <a:spcPts val="1200"/>
              </a:spcBef>
              <a:spcAft>
                <a:spcPts val="0"/>
              </a:spcAft>
              <a:buNone/>
            </a:pPr>
            <a:r>
              <a:rPr lang="en"/>
              <a:t>2. Perform certain validations to check in the mandatory fields.</a:t>
            </a:r>
            <a:endParaRPr/>
          </a:p>
          <a:p>
            <a:pPr indent="0" lvl="0" marL="0" rtl="0" algn="l">
              <a:spcBef>
                <a:spcPts val="1200"/>
              </a:spcBef>
              <a:spcAft>
                <a:spcPts val="0"/>
              </a:spcAft>
              <a:buNone/>
            </a:pPr>
            <a:r>
              <a:rPr lang="en"/>
              <a:t>3. Use ZSSO_FM_EZRX_DETERMINE_PLANT to check the location of the material.</a:t>
            </a:r>
            <a:endParaRPr/>
          </a:p>
          <a:p>
            <a:pPr indent="0" lvl="0" marL="0" rtl="0" algn="l">
              <a:spcBef>
                <a:spcPts val="1200"/>
              </a:spcBef>
              <a:spcAft>
                <a:spcPts val="0"/>
              </a:spcAft>
              <a:buNone/>
            </a:pPr>
            <a:r>
              <a:rPr lang="en"/>
              <a:t>4. Use BAPI_SALESORDER_CREATEFROMDAT2 to create the sales order</a:t>
            </a:r>
            <a:r>
              <a:rPr lang="en"/>
              <a:t> ---&gt;</a:t>
            </a:r>
            <a:r>
              <a:rPr lang="en"/>
              <a:t>BAPI_TRANSACTION_COMMIT.</a:t>
            </a:r>
            <a:endParaRPr/>
          </a:p>
          <a:p>
            <a:pPr indent="0" lvl="0" marL="0" rtl="0" algn="l">
              <a:spcBef>
                <a:spcPts val="1200"/>
              </a:spcBef>
              <a:spcAft>
                <a:spcPts val="0"/>
              </a:spcAft>
              <a:buNone/>
            </a:pPr>
            <a:r>
              <a:rPr lang="en"/>
              <a:t>5. Use BAPISDORDER_GETDETAILEDLIST to get detailed information on newly created sales order.</a:t>
            </a:r>
            <a:endParaRPr/>
          </a:p>
          <a:p>
            <a:pPr indent="0" lvl="0" marL="0" rtl="0" algn="l">
              <a:spcBef>
                <a:spcPts val="1200"/>
              </a:spcBef>
              <a:spcAft>
                <a:spcPts val="0"/>
              </a:spcAft>
              <a:buNone/>
            </a:pPr>
            <a:r>
              <a:rPr lang="en"/>
              <a:t>6. Use BAPI_SALESORDER_CHANGE to modify the sales order if needed.</a:t>
            </a:r>
            <a:endParaRPr/>
          </a:p>
          <a:p>
            <a:pPr indent="0" lvl="0" marL="0" rtl="0" algn="l">
              <a:spcBef>
                <a:spcPts val="1200"/>
              </a:spcBef>
              <a:spcAft>
                <a:spcPts val="0"/>
              </a:spcAft>
              <a:buNone/>
            </a:pPr>
            <a:r>
              <a:rPr lang="en"/>
              <a:t>7. Post the sales doc number to the user via email.</a:t>
            </a:r>
            <a:endParaRPr/>
          </a:p>
          <a:p>
            <a:pPr indent="0" lvl="0" marL="0" rtl="0" algn="l">
              <a:spcBef>
                <a:spcPts val="12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7"/>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Accounts Receivables Clearing</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59" name="Google Shape;159;p17"/>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fontScale="92500" lnSpcReduction="20000"/>
          </a:bodyPr>
          <a:lstStyle/>
          <a:p>
            <a:pPr indent="-304959" lvl="0" marL="457200" rtl="0" algn="l">
              <a:spcBef>
                <a:spcPts val="0"/>
              </a:spcBef>
              <a:spcAft>
                <a:spcPts val="0"/>
              </a:spcAft>
              <a:buSzPct val="100000"/>
              <a:buChar char="●"/>
            </a:pPr>
            <a:r>
              <a:rPr lang="en"/>
              <a:t>Accounts Receivables…(P1)</a:t>
            </a:r>
            <a:endParaRPr/>
          </a:p>
          <a:p>
            <a:pPr indent="-293211" lvl="1" marL="914400" rtl="0" algn="l">
              <a:spcBef>
                <a:spcPts val="0"/>
              </a:spcBef>
              <a:spcAft>
                <a:spcPts val="0"/>
              </a:spcAft>
              <a:buSzPct val="100000"/>
              <a:buChar char="○"/>
            </a:pPr>
            <a:r>
              <a:rPr lang="en"/>
              <a:t>Get the MT942 files from the SFTP.</a:t>
            </a:r>
            <a:endParaRPr/>
          </a:p>
          <a:p>
            <a:pPr indent="-293211" lvl="1" marL="914400" rtl="0" algn="l">
              <a:spcBef>
                <a:spcPts val="0"/>
              </a:spcBef>
              <a:spcAft>
                <a:spcPts val="0"/>
              </a:spcAft>
              <a:buSzPct val="100000"/>
              <a:buChar char="○"/>
            </a:pPr>
            <a:r>
              <a:rPr lang="en"/>
              <a:t>Read the MT942 files for the transactions made</a:t>
            </a:r>
            <a:endParaRPr/>
          </a:p>
          <a:p>
            <a:pPr indent="-293211" lvl="1" marL="914400" rtl="0" algn="l">
              <a:spcBef>
                <a:spcPts val="0"/>
              </a:spcBef>
              <a:spcAft>
                <a:spcPts val="0"/>
              </a:spcAft>
              <a:buSzPct val="100000"/>
              <a:buChar char="○"/>
            </a:pPr>
            <a:r>
              <a:rPr lang="en"/>
              <a:t>HANA API to retrieve all the open AR items for that particular customer.</a:t>
            </a:r>
            <a:endParaRPr/>
          </a:p>
          <a:p>
            <a:pPr indent="-293211" lvl="1" marL="914400" rtl="0" algn="l">
              <a:spcBef>
                <a:spcPts val="0"/>
              </a:spcBef>
              <a:spcAft>
                <a:spcPts val="0"/>
              </a:spcAft>
              <a:buSzPct val="100000"/>
              <a:buChar char="○"/>
            </a:pPr>
            <a:r>
              <a:rPr lang="en"/>
              <a:t>Then we compare the payment amount by doing the sum of Due and overdue invoices. (FIFO logic)</a:t>
            </a:r>
            <a:endParaRPr/>
          </a:p>
          <a:p>
            <a:pPr indent="-293211" lvl="1" marL="914400" rtl="0" algn="l">
              <a:spcBef>
                <a:spcPts val="0"/>
              </a:spcBef>
              <a:spcAft>
                <a:spcPts val="0"/>
              </a:spcAft>
              <a:buSzPct val="100000"/>
              <a:buChar char="○"/>
            </a:pPr>
            <a:r>
              <a:rPr lang="en"/>
              <a:t>If a clear match is found in the payment amount (+-7 SGD) then the invoices would be marked for clearing </a:t>
            </a:r>
            <a:endParaRPr/>
          </a:p>
          <a:p>
            <a:pPr indent="-293211" lvl="1" marL="914400" rtl="0" algn="l">
              <a:spcBef>
                <a:spcPts val="0"/>
              </a:spcBef>
              <a:spcAft>
                <a:spcPts val="0"/>
              </a:spcAft>
              <a:buSzPct val="100000"/>
              <a:buChar char="○"/>
            </a:pPr>
            <a:r>
              <a:rPr lang="en"/>
              <a:t> Tab delimited file would be used in ZF-invpay</a:t>
            </a:r>
            <a:endParaRPr/>
          </a:p>
          <a:p>
            <a:pPr indent="-293211" lvl="1" marL="914400" rtl="0" algn="l">
              <a:spcBef>
                <a:spcPts val="0"/>
              </a:spcBef>
              <a:spcAft>
                <a:spcPts val="0"/>
              </a:spcAft>
              <a:buSzPct val="100000"/>
              <a:buChar char="○"/>
            </a:pPr>
            <a:r>
              <a:rPr lang="en"/>
              <a:t>If a clear match is not found the marked as unmatched.</a:t>
            </a:r>
            <a:endParaRPr/>
          </a:p>
          <a:p>
            <a:pPr indent="-304959" lvl="0" marL="457200" rtl="0" algn="l">
              <a:spcBef>
                <a:spcPts val="0"/>
              </a:spcBef>
              <a:spcAft>
                <a:spcPts val="0"/>
              </a:spcAft>
              <a:buSzPct val="100000"/>
              <a:buChar char="●"/>
            </a:pPr>
            <a:r>
              <a:rPr lang="en"/>
              <a:t>Unmatched transactions will be sent to AR team. </a:t>
            </a:r>
            <a:endParaRPr/>
          </a:p>
          <a:p>
            <a:pPr indent="-293211" lvl="1" marL="914400" rtl="0" algn="l">
              <a:spcBef>
                <a:spcPts val="0"/>
              </a:spcBef>
              <a:spcAft>
                <a:spcPts val="0"/>
              </a:spcAft>
              <a:buSzPct val="100000"/>
              <a:buChar char="○"/>
            </a:pPr>
            <a:r>
              <a:rPr lang="en"/>
              <a:t>The AR team will do a manual matching </a:t>
            </a:r>
            <a:endParaRPr/>
          </a:p>
          <a:p>
            <a:pPr indent="-293211" lvl="1" marL="914400" rtl="0" algn="l">
              <a:spcBef>
                <a:spcPts val="0"/>
              </a:spcBef>
              <a:spcAft>
                <a:spcPts val="0"/>
              </a:spcAft>
              <a:buSzPct val="100000"/>
              <a:buChar char="○"/>
            </a:pPr>
            <a:r>
              <a:rPr lang="en"/>
              <a:t>Prepare an AR clearing template..</a:t>
            </a:r>
            <a:endParaRPr/>
          </a:p>
          <a:p>
            <a:pPr indent="-293211" lvl="1" marL="914400" rtl="0" algn="l">
              <a:spcBef>
                <a:spcPts val="0"/>
              </a:spcBef>
              <a:spcAft>
                <a:spcPts val="0"/>
              </a:spcAft>
              <a:buSzPct val="100000"/>
              <a:buChar char="○"/>
            </a:pPr>
            <a:r>
              <a:rPr lang="en"/>
              <a:t>Based on Single or multiple customers present in the template we would clear the transaction in F-28 or ZF_INVPAY</a:t>
            </a:r>
            <a:endParaRPr/>
          </a:p>
          <a:p>
            <a:pPr indent="-293211" lvl="1" marL="914400" rtl="0" algn="l">
              <a:spcBef>
                <a:spcPts val="0"/>
              </a:spcBef>
              <a:spcAft>
                <a:spcPts val="0"/>
              </a:spcAft>
              <a:buSzPct val="100000"/>
              <a:buChar char="○"/>
            </a:pPr>
            <a:r>
              <a:rPr lang="en"/>
              <a:t>Keying in the invoice numbers</a:t>
            </a:r>
            <a:endParaRPr/>
          </a:p>
          <a:p>
            <a:pPr indent="-293211" lvl="1" marL="914400" rtl="0" algn="l">
              <a:spcBef>
                <a:spcPts val="0"/>
              </a:spcBef>
              <a:spcAft>
                <a:spcPts val="0"/>
              </a:spcAft>
              <a:buSzPct val="100000"/>
              <a:buChar char="○"/>
            </a:pPr>
            <a:r>
              <a:rPr lang="en"/>
              <a:t>At last we would send a report if the clearing was done successfully</a:t>
            </a:r>
            <a:endParaRPr/>
          </a:p>
          <a:p>
            <a:pPr indent="0" lvl="0" marL="457200" rtl="0" algn="l">
              <a:spcBef>
                <a:spcPts val="12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8"/>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Automated Invoice Re-calculation and Payment Matching.</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65" name="Google Shape;165;p18"/>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fontScale="77500" lnSpcReduction="20000"/>
          </a:bodyPr>
          <a:lstStyle/>
          <a:p>
            <a:pPr indent="-292576" lvl="0" marL="457200" rtl="0" algn="l">
              <a:spcBef>
                <a:spcPts val="0"/>
              </a:spcBef>
              <a:spcAft>
                <a:spcPts val="0"/>
              </a:spcAft>
              <a:buSzPct val="100000"/>
              <a:buChar char="●"/>
            </a:pPr>
            <a:r>
              <a:rPr lang="en"/>
              <a:t>Invoice Recalculation</a:t>
            </a:r>
            <a:endParaRPr/>
          </a:p>
          <a:p>
            <a:pPr indent="-282734" lvl="1" marL="914400" rtl="0" algn="l">
              <a:spcBef>
                <a:spcPts val="0"/>
              </a:spcBef>
              <a:spcAft>
                <a:spcPts val="0"/>
              </a:spcAft>
              <a:buSzPct val="100000"/>
              <a:buChar char="○"/>
            </a:pPr>
            <a:r>
              <a:rPr lang="en"/>
              <a:t>Read Configurations.</a:t>
            </a:r>
            <a:endParaRPr/>
          </a:p>
          <a:p>
            <a:pPr indent="-282734" lvl="1" marL="914400" rtl="0" algn="l">
              <a:spcBef>
                <a:spcPts val="0"/>
              </a:spcBef>
              <a:spcAft>
                <a:spcPts val="0"/>
              </a:spcAft>
              <a:buSzPct val="100000"/>
              <a:buChar char="○"/>
            </a:pPr>
            <a:r>
              <a:rPr lang="en"/>
              <a:t>Connect to SFTP </a:t>
            </a:r>
            <a:endParaRPr/>
          </a:p>
          <a:p>
            <a:pPr indent="-282734" lvl="1" marL="914400" rtl="0" algn="l">
              <a:spcBef>
                <a:spcPts val="0"/>
              </a:spcBef>
              <a:spcAft>
                <a:spcPts val="0"/>
              </a:spcAft>
              <a:buSzPct val="100000"/>
              <a:buChar char="○"/>
            </a:pPr>
            <a:r>
              <a:rPr lang="en"/>
              <a:t>Check if the ID files are available.</a:t>
            </a:r>
            <a:endParaRPr/>
          </a:p>
          <a:p>
            <a:pPr indent="-282734" lvl="1" marL="914400" rtl="0" algn="l">
              <a:spcBef>
                <a:spcPts val="0"/>
              </a:spcBef>
              <a:spcAft>
                <a:spcPts val="0"/>
              </a:spcAft>
              <a:buSzPct val="100000"/>
              <a:buChar char="○"/>
            </a:pPr>
            <a:r>
              <a:rPr lang="en"/>
              <a:t>Download the ID files and parse the file.</a:t>
            </a:r>
            <a:endParaRPr/>
          </a:p>
          <a:p>
            <a:pPr indent="-282734" lvl="1" marL="914400" rtl="0" algn="l">
              <a:spcBef>
                <a:spcPts val="0"/>
              </a:spcBef>
              <a:spcAft>
                <a:spcPts val="0"/>
              </a:spcAft>
              <a:buSzPct val="100000"/>
              <a:buChar char="○"/>
            </a:pPr>
            <a:r>
              <a:rPr lang="en"/>
              <a:t>get the prices from the Pracbiz portal.</a:t>
            </a:r>
            <a:endParaRPr/>
          </a:p>
          <a:p>
            <a:pPr indent="-282734" lvl="1" marL="914400" rtl="0" algn="l">
              <a:spcBef>
                <a:spcPts val="0"/>
              </a:spcBef>
              <a:spcAft>
                <a:spcPts val="0"/>
              </a:spcAft>
              <a:buSzPct val="100000"/>
              <a:buChar char="○"/>
            </a:pPr>
            <a:r>
              <a:rPr lang="en"/>
              <a:t>Perform recalculation (Adjust Invoice Total, Total Tax, Line Item Price)</a:t>
            </a:r>
            <a:endParaRPr/>
          </a:p>
          <a:p>
            <a:pPr indent="-282734" lvl="1" marL="914400" rtl="0" algn="l">
              <a:spcBef>
                <a:spcPts val="0"/>
              </a:spcBef>
              <a:spcAft>
                <a:spcPts val="0"/>
              </a:spcAft>
              <a:buSzPct val="100000"/>
              <a:buChar char="○"/>
            </a:pPr>
            <a:r>
              <a:rPr lang="en"/>
              <a:t> Create Entry in SharePoint: Log invoice details in SharePoint (storeCode, Adjusted Price, AdjustmentDate, suplierCode)</a:t>
            </a:r>
            <a:endParaRPr/>
          </a:p>
          <a:p>
            <a:pPr indent="-282734" lvl="1" marL="914400" rtl="0" algn="l">
              <a:spcBef>
                <a:spcPts val="0"/>
              </a:spcBef>
              <a:spcAft>
                <a:spcPts val="0"/>
              </a:spcAft>
              <a:buSzPct val="100000"/>
              <a:buChar char="○"/>
            </a:pPr>
            <a:r>
              <a:rPr lang="en"/>
              <a:t>Send Summary Email including all the recalculated invoices</a:t>
            </a:r>
            <a:endParaRPr/>
          </a:p>
          <a:p>
            <a:pPr indent="-292576" lvl="0" marL="457200" rtl="0" algn="l">
              <a:spcBef>
                <a:spcPts val="0"/>
              </a:spcBef>
              <a:spcAft>
                <a:spcPts val="0"/>
              </a:spcAft>
              <a:buSzPct val="100000"/>
              <a:buChar char="●"/>
            </a:pPr>
            <a:r>
              <a:rPr lang="en"/>
              <a:t>Update Invoices in SAP</a:t>
            </a:r>
            <a:endParaRPr/>
          </a:p>
          <a:p>
            <a:pPr indent="-282734" lvl="1" marL="914400" rtl="0" algn="l">
              <a:spcBef>
                <a:spcPts val="0"/>
              </a:spcBef>
              <a:spcAft>
                <a:spcPts val="0"/>
              </a:spcAft>
              <a:buSzPct val="100000"/>
              <a:buChar char="○"/>
            </a:pPr>
            <a:r>
              <a:rPr lang="en"/>
              <a:t>Retrieve the email with the message ID passed by Power Automate</a:t>
            </a:r>
            <a:endParaRPr/>
          </a:p>
          <a:p>
            <a:pPr indent="-282734" lvl="1" marL="914400" rtl="0" algn="l">
              <a:spcBef>
                <a:spcPts val="0"/>
              </a:spcBef>
              <a:spcAft>
                <a:spcPts val="0"/>
              </a:spcAft>
              <a:buSzPct val="100000"/>
              <a:buChar char="○"/>
            </a:pPr>
            <a:r>
              <a:rPr lang="en"/>
              <a:t>Read the excel file as contained in the email.</a:t>
            </a:r>
            <a:endParaRPr/>
          </a:p>
          <a:p>
            <a:pPr indent="-282734" lvl="1" marL="914400" rtl="0" algn="l">
              <a:spcBef>
                <a:spcPts val="0"/>
              </a:spcBef>
              <a:spcAft>
                <a:spcPts val="0"/>
              </a:spcAft>
              <a:buSzPct val="100000"/>
              <a:buChar char="○"/>
            </a:pPr>
            <a:r>
              <a:rPr lang="en"/>
              <a:t>Extract all invoice numbers listed in the Matched/Buyer Accepted sheet.</a:t>
            </a:r>
            <a:endParaRPr/>
          </a:p>
          <a:p>
            <a:pPr indent="-282734" lvl="1" marL="914400" rtl="0" algn="l">
              <a:spcBef>
                <a:spcPts val="0"/>
              </a:spcBef>
              <a:spcAft>
                <a:spcPts val="0"/>
              </a:spcAft>
              <a:buSzPct val="100000"/>
              <a:buChar char="○"/>
            </a:pPr>
            <a:r>
              <a:rPr lang="en"/>
              <a:t>Obtain all invoice details from SharePoint via Graph API.</a:t>
            </a:r>
            <a:endParaRPr/>
          </a:p>
          <a:p>
            <a:pPr indent="-282734" lvl="1" marL="914400" rtl="0" algn="l">
              <a:spcBef>
                <a:spcPts val="0"/>
              </a:spcBef>
              <a:spcAft>
                <a:spcPts val="0"/>
              </a:spcAft>
              <a:buSzPct val="100000"/>
              <a:buChar char="○"/>
            </a:pPr>
            <a:r>
              <a:rPr lang="en"/>
              <a:t>Filter the API response based on the invoice numbers available in the Matched/Buyer accepted sheet.</a:t>
            </a:r>
            <a:endParaRPr/>
          </a:p>
          <a:p>
            <a:pPr indent="-282734" lvl="1" marL="914400" rtl="0" algn="l">
              <a:spcBef>
                <a:spcPts val="0"/>
              </a:spcBef>
              <a:spcAft>
                <a:spcPts val="0"/>
              </a:spcAft>
              <a:buSzPct val="100000"/>
              <a:buChar char="○"/>
            </a:pPr>
            <a:r>
              <a:rPr lang="en"/>
              <a:t>Iterate through each matching invoice.</a:t>
            </a:r>
            <a:endParaRPr/>
          </a:p>
          <a:p>
            <a:pPr indent="-282734" lvl="1" marL="914400" rtl="0" algn="l">
              <a:spcBef>
                <a:spcPts val="0"/>
              </a:spcBef>
              <a:spcAft>
                <a:spcPts val="0"/>
              </a:spcAft>
              <a:buSzPct val="100000"/>
              <a:buChar char="○"/>
            </a:pPr>
            <a:r>
              <a:rPr lang="en"/>
              <a:t>Update the header text using BAPI ZFI_DOCUMENT_CHANGE to update the header text of the first line item. </a:t>
            </a:r>
            <a:endParaRPr/>
          </a:p>
          <a:p>
            <a:pPr indent="-282734" lvl="1" marL="914400" rtl="0" algn="l">
              <a:spcBef>
                <a:spcPts val="0"/>
              </a:spcBef>
              <a:spcAft>
                <a:spcPts val="0"/>
              </a:spcAft>
              <a:buSzPct val="100000"/>
              <a:buChar char="○"/>
            </a:pPr>
            <a:r>
              <a:rPr lang="en"/>
              <a:t>Updated text should follow the format &lt;Supplier Code&gt;_&lt;Store Code&gt;_EINV_&lt;Invoice Date in DD/MM/YY Format&gt;_&lt;Invoice Amount&gt;</a:t>
            </a:r>
            <a:endParaRPr/>
          </a:p>
          <a:p>
            <a:pPr indent="-282734" lvl="1" marL="914400" rtl="0" algn="l">
              <a:spcBef>
                <a:spcPts val="0"/>
              </a:spcBef>
              <a:spcAft>
                <a:spcPts val="0"/>
              </a:spcAft>
              <a:buSzPct val="100000"/>
              <a:buChar char="○"/>
            </a:pPr>
            <a:r>
              <a:rPr lang="en"/>
              <a:t>Send the updated summary to the user</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9"/>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License to Operate (LTO) Maintenance </a:t>
            </a:r>
            <a:endParaRPr/>
          </a:p>
        </p:txBody>
      </p:sp>
      <p:sp>
        <p:nvSpPr>
          <p:cNvPr id="171" name="Google Shape;171;p19"/>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fontScale="77500" lnSpcReduction="10000"/>
          </a:bodyPr>
          <a:lstStyle/>
          <a:p>
            <a:pPr indent="-292576" lvl="0" marL="457200" rtl="0" algn="l">
              <a:spcBef>
                <a:spcPts val="0"/>
              </a:spcBef>
              <a:spcAft>
                <a:spcPts val="0"/>
              </a:spcAft>
              <a:buSzPct val="100000"/>
              <a:buChar char="●"/>
            </a:pPr>
            <a:r>
              <a:rPr lang="en"/>
              <a:t>Perform system sanity and clear the system.</a:t>
            </a:r>
            <a:endParaRPr/>
          </a:p>
          <a:p>
            <a:pPr indent="-292576" lvl="0" marL="457200" rtl="0" algn="l">
              <a:spcBef>
                <a:spcPts val="0"/>
              </a:spcBef>
              <a:spcAft>
                <a:spcPts val="0"/>
              </a:spcAft>
              <a:buSzPct val="100000"/>
              <a:buChar char="●"/>
            </a:pPr>
            <a:r>
              <a:rPr lang="en"/>
              <a:t>Fetch the Configuration File and read the environment variables.</a:t>
            </a:r>
            <a:endParaRPr/>
          </a:p>
          <a:p>
            <a:pPr indent="-292576" lvl="0" marL="457200" rtl="0" algn="l">
              <a:spcBef>
                <a:spcPts val="0"/>
              </a:spcBef>
              <a:spcAft>
                <a:spcPts val="0"/>
              </a:spcAft>
              <a:buSzPct val="100000"/>
              <a:buChar char="●"/>
            </a:pPr>
            <a:r>
              <a:rPr lang="en"/>
              <a:t>Read the Authorization Sheet from Configuration File.</a:t>
            </a:r>
            <a:endParaRPr/>
          </a:p>
          <a:p>
            <a:pPr indent="-292576" lvl="0" marL="457200" rtl="0" algn="l">
              <a:spcBef>
                <a:spcPts val="0"/>
              </a:spcBef>
              <a:spcAft>
                <a:spcPts val="0"/>
              </a:spcAft>
              <a:buSzPct val="100000"/>
              <a:buChar char="●"/>
            </a:pPr>
            <a:r>
              <a:rPr lang="en"/>
              <a:t>Read the email sent from the CS team with the message id received and validate email has the excel attachments.</a:t>
            </a:r>
            <a:endParaRPr/>
          </a:p>
          <a:p>
            <a:pPr indent="-292576" lvl="0" marL="457200" rtl="0" algn="l">
              <a:spcBef>
                <a:spcPts val="0"/>
              </a:spcBef>
              <a:spcAft>
                <a:spcPts val="0"/>
              </a:spcAft>
              <a:buSzPct val="100000"/>
              <a:buChar char="●"/>
            </a:pPr>
            <a:r>
              <a:rPr lang="en"/>
              <a:t>Save the Attachment(.xlsx)</a:t>
            </a:r>
            <a:endParaRPr/>
          </a:p>
          <a:p>
            <a:pPr indent="-292576" lvl="0" marL="457200" rtl="0" algn="l">
              <a:spcBef>
                <a:spcPts val="0"/>
              </a:spcBef>
              <a:spcAft>
                <a:spcPts val="0"/>
              </a:spcAft>
              <a:buSzPct val="100000"/>
              <a:buChar char="●"/>
            </a:pPr>
            <a:r>
              <a:rPr lang="en"/>
              <a:t>Authorize the user if the email id is maintained in the list of authorized users.</a:t>
            </a:r>
            <a:endParaRPr/>
          </a:p>
          <a:p>
            <a:pPr indent="-292576" lvl="0" marL="457200" rtl="0" algn="l">
              <a:spcBef>
                <a:spcPts val="0"/>
              </a:spcBef>
              <a:spcAft>
                <a:spcPts val="0"/>
              </a:spcAft>
              <a:buSzPct val="100000"/>
              <a:buChar char="●"/>
            </a:pPr>
            <a:r>
              <a:rPr lang="en"/>
              <a:t>Login to SAP GUI.</a:t>
            </a:r>
            <a:endParaRPr/>
          </a:p>
          <a:p>
            <a:pPr indent="-292576" lvl="0" marL="457200" rtl="0" algn="l">
              <a:spcBef>
                <a:spcPts val="0"/>
              </a:spcBef>
              <a:spcAft>
                <a:spcPts val="0"/>
              </a:spcAft>
              <a:buSzPct val="100000"/>
              <a:buChar char="●"/>
            </a:pPr>
            <a:r>
              <a:rPr lang="en"/>
              <a:t>Loop through each file in the email.</a:t>
            </a:r>
            <a:endParaRPr/>
          </a:p>
          <a:p>
            <a:pPr indent="-292576" lvl="0" marL="457200" rtl="0" algn="l">
              <a:spcBef>
                <a:spcPts val="0"/>
              </a:spcBef>
              <a:spcAft>
                <a:spcPts val="0"/>
              </a:spcAft>
              <a:buSzPct val="100000"/>
              <a:buChar char="●"/>
            </a:pPr>
            <a:r>
              <a:rPr lang="en"/>
              <a:t>Read the excel file according to the template and parse the data into array.</a:t>
            </a:r>
            <a:endParaRPr/>
          </a:p>
          <a:p>
            <a:pPr indent="-292576" lvl="0" marL="457200" rtl="0" algn="l">
              <a:spcBef>
                <a:spcPts val="0"/>
              </a:spcBef>
              <a:spcAft>
                <a:spcPts val="0"/>
              </a:spcAft>
              <a:buSzPct val="100000"/>
              <a:buChar char="●"/>
            </a:pPr>
            <a:r>
              <a:rPr lang="en"/>
              <a:t>Validate all the license data available in excel file.</a:t>
            </a:r>
            <a:endParaRPr/>
          </a:p>
          <a:p>
            <a:pPr indent="-292576" lvl="0" marL="457200" rtl="0" algn="l">
              <a:spcBef>
                <a:spcPts val="0"/>
              </a:spcBef>
              <a:spcAft>
                <a:spcPts val="0"/>
              </a:spcAft>
              <a:buSzPct val="100000"/>
              <a:buChar char="●"/>
            </a:pPr>
            <a:r>
              <a:rPr lang="en"/>
              <a:t>Loops through each license data.</a:t>
            </a:r>
            <a:endParaRPr/>
          </a:p>
          <a:p>
            <a:pPr indent="-292576" lvl="0" marL="457200" rtl="0" algn="l">
              <a:spcBef>
                <a:spcPts val="0"/>
              </a:spcBef>
              <a:spcAft>
                <a:spcPts val="0"/>
              </a:spcAft>
              <a:buSzPct val="100000"/>
              <a:buChar char="●"/>
            </a:pPr>
            <a:r>
              <a:rPr lang="en"/>
              <a:t>Get the Ship to address from Tcode XD03(Customer Details).</a:t>
            </a:r>
            <a:endParaRPr/>
          </a:p>
          <a:p>
            <a:pPr indent="-292576" lvl="0" marL="457200" rtl="0" algn="l">
              <a:spcBef>
                <a:spcPts val="0"/>
              </a:spcBef>
              <a:spcAft>
                <a:spcPts val="0"/>
              </a:spcAft>
              <a:buSzPct val="100000"/>
              <a:buChar char="●"/>
            </a:pPr>
            <a:r>
              <a:rPr lang="en"/>
              <a:t>Create License in the tcode VX01N(Create a new customer master record for sales and distribution).</a:t>
            </a:r>
            <a:endParaRPr/>
          </a:p>
          <a:p>
            <a:pPr indent="-292576" lvl="0" marL="457200" rtl="0" algn="l">
              <a:spcBef>
                <a:spcPts val="0"/>
              </a:spcBef>
              <a:spcAft>
                <a:spcPts val="0"/>
              </a:spcAft>
              <a:buSzPct val="100000"/>
              <a:buChar char="●"/>
            </a:pPr>
            <a:r>
              <a:rPr lang="en"/>
              <a:t>Prepare the result report with the respective result.</a:t>
            </a:r>
            <a:endParaRPr/>
          </a:p>
          <a:p>
            <a:pPr indent="-292576" lvl="0" marL="457200" rtl="0" algn="l">
              <a:spcBef>
                <a:spcPts val="0"/>
              </a:spcBef>
              <a:spcAft>
                <a:spcPts val="0"/>
              </a:spcAft>
              <a:buSzPct val="100000"/>
              <a:buChar char="●"/>
            </a:pPr>
            <a:r>
              <a:rPr lang="en"/>
              <a:t>Send the Job summary email to the CS team with the result report and Success/exception count.</a:t>
            </a:r>
            <a:endParaRPr/>
          </a:p>
          <a:p>
            <a:pPr indent="0" lvl="0" marL="457200" rtl="0" algn="l">
              <a:spcBef>
                <a:spcPts val="120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Generic Email POI Automation</a:t>
            </a:r>
            <a:endParaRPr/>
          </a:p>
        </p:txBody>
      </p:sp>
      <p:sp>
        <p:nvSpPr>
          <p:cNvPr id="177" name="Google Shape;177;p20"/>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fontScale="85000" lnSpcReduction="20000"/>
          </a:bodyPr>
          <a:lstStyle/>
          <a:p>
            <a:pPr indent="-298768" lvl="0" marL="457200" rtl="0" algn="l">
              <a:spcBef>
                <a:spcPts val="0"/>
              </a:spcBef>
              <a:spcAft>
                <a:spcPts val="0"/>
              </a:spcAft>
              <a:buSzPct val="100000"/>
              <a:buChar char="●"/>
            </a:pPr>
            <a:r>
              <a:rPr lang="en"/>
              <a:t>Overview: Automated the process of extracting and processing purchase orders (PO) received via email, converting them into Purchase Order Interface (POI) text files for SAP integration, and uploading themto an FTP server.</a:t>
            </a:r>
            <a:endParaRPr/>
          </a:p>
          <a:p>
            <a:pPr indent="-298768" lvl="0" marL="457200" rtl="0" algn="l">
              <a:spcBef>
                <a:spcPts val="0"/>
              </a:spcBef>
              <a:spcAft>
                <a:spcPts val="0"/>
              </a:spcAft>
              <a:buSzPct val="100000"/>
              <a:buChar char="●"/>
            </a:pPr>
            <a:r>
              <a:rPr lang="en"/>
              <a:t>Technical Implementation: Developed an RPA bot to handle various attachment types (PDF, CSV, XLS, XLSX, Txt) from incoming emails, validate and extract data, convert it into standardized POI text files, and upload them to the SAP server or FTP. The bot also manages job folders and sends success emails to relevant stakeholders.</a:t>
            </a:r>
            <a:endParaRPr/>
          </a:p>
          <a:p>
            <a:pPr indent="-298768" lvl="0" marL="457200" rtl="0" algn="l">
              <a:spcBef>
                <a:spcPts val="0"/>
              </a:spcBef>
              <a:spcAft>
                <a:spcPts val="0"/>
              </a:spcAft>
              <a:buSzPct val="100000"/>
              <a:buChar char="●"/>
            </a:pPr>
            <a:r>
              <a:rPr lang="en"/>
              <a:t>Key Technologies: RPA, API integration, PDF Data Extraction, Excel Automation, SAP, FTP, Email Automation</a:t>
            </a:r>
            <a:endParaRPr/>
          </a:p>
          <a:p>
            <a:pPr indent="-298768" lvl="0" marL="457200" rtl="0" algn="l">
              <a:spcBef>
                <a:spcPts val="0"/>
              </a:spcBef>
              <a:spcAft>
                <a:spcPts val="0"/>
              </a:spcAft>
              <a:buSzPct val="100000"/>
              <a:buChar char="●"/>
            </a:pPr>
            <a:r>
              <a:rPr lang="en"/>
              <a:t>Outcome: Streamlined the PO processing workflow, significantly reducing manual intervention, and ensuring timely and accurate order creation in SAP. Improved efficiency and data accuracy across multiple business units.</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1"/>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Auto Closure of blocked Sales Orders</a:t>
            </a:r>
            <a:endParaRPr/>
          </a:p>
        </p:txBody>
      </p:sp>
      <p:sp>
        <p:nvSpPr>
          <p:cNvPr id="183" name="Google Shape;183;p21"/>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Perform System sanity </a:t>
            </a:r>
            <a:endParaRPr/>
          </a:p>
          <a:p>
            <a:pPr indent="-311150" lvl="0" marL="457200" rtl="0" algn="l">
              <a:spcBef>
                <a:spcPts val="0"/>
              </a:spcBef>
              <a:spcAft>
                <a:spcPts val="0"/>
              </a:spcAft>
              <a:buSzPts val="1300"/>
              <a:buChar char="●"/>
            </a:pPr>
            <a:r>
              <a:rPr lang="en"/>
              <a:t>Call Hana API to get all blocked sales orders </a:t>
            </a:r>
            <a:endParaRPr/>
          </a:p>
          <a:p>
            <a:pPr indent="-311150" lvl="0" marL="457200" rtl="0" algn="l">
              <a:spcBef>
                <a:spcPts val="0"/>
              </a:spcBef>
              <a:spcAft>
                <a:spcPts val="0"/>
              </a:spcAft>
              <a:buSzPts val="1300"/>
              <a:buChar char="●"/>
            </a:pPr>
            <a:r>
              <a:rPr lang="en"/>
              <a:t>Segregate</a:t>
            </a:r>
            <a:r>
              <a:rPr lang="en"/>
              <a:t> the sales orders based on if its blocked due header level or item level</a:t>
            </a:r>
            <a:endParaRPr/>
          </a:p>
          <a:p>
            <a:pPr indent="-311150" lvl="0" marL="457200" rtl="0" algn="l">
              <a:spcBef>
                <a:spcPts val="0"/>
              </a:spcBef>
              <a:spcAft>
                <a:spcPts val="0"/>
              </a:spcAft>
              <a:buSzPts val="1300"/>
              <a:buChar char="●"/>
            </a:pPr>
            <a:r>
              <a:rPr lang="en"/>
              <a:t>Segregation</a:t>
            </a:r>
            <a:r>
              <a:rPr lang="en"/>
              <a:t> is based on the ‘held’ code</a:t>
            </a:r>
            <a:endParaRPr/>
          </a:p>
          <a:p>
            <a:pPr indent="-311150" lvl="0" marL="457200" rtl="0" algn="l">
              <a:spcBef>
                <a:spcPts val="0"/>
              </a:spcBef>
              <a:spcAft>
                <a:spcPts val="0"/>
              </a:spcAft>
              <a:buSzPts val="1300"/>
              <a:buChar char="●"/>
            </a:pPr>
            <a:r>
              <a:rPr lang="en"/>
              <a:t>Separate order numbers into two text files</a:t>
            </a:r>
            <a:r>
              <a:rPr lang="en"/>
              <a:t> </a:t>
            </a:r>
            <a:endParaRPr/>
          </a:p>
          <a:p>
            <a:pPr indent="-311150" lvl="0" marL="457200" rtl="0" algn="l">
              <a:spcBef>
                <a:spcPts val="0"/>
              </a:spcBef>
              <a:spcAft>
                <a:spcPts val="0"/>
              </a:spcAft>
              <a:buSzPts val="1300"/>
              <a:buChar char="●"/>
            </a:pPr>
            <a:r>
              <a:rPr lang="en"/>
              <a:t>Make a list of item numbers that are affecting the So for item lvl blockage</a:t>
            </a:r>
            <a:endParaRPr/>
          </a:p>
          <a:p>
            <a:pPr indent="-311150" lvl="0" marL="457200" rtl="0" algn="l">
              <a:spcBef>
                <a:spcPts val="0"/>
              </a:spcBef>
              <a:spcAft>
                <a:spcPts val="0"/>
              </a:spcAft>
              <a:buSzPts val="1300"/>
              <a:buChar char="●"/>
            </a:pPr>
            <a:r>
              <a:rPr lang="en"/>
              <a:t>Once segregation is made use ZCLEARDELBLK to clear the SO that are blocked on the header level</a:t>
            </a:r>
            <a:endParaRPr/>
          </a:p>
          <a:p>
            <a:pPr indent="-311150" lvl="0" marL="457200" rtl="0" algn="l">
              <a:spcBef>
                <a:spcPts val="0"/>
              </a:spcBef>
              <a:spcAft>
                <a:spcPts val="0"/>
              </a:spcAft>
              <a:buSzPts val="1300"/>
              <a:buChar char="●"/>
            </a:pPr>
            <a:r>
              <a:rPr lang="en"/>
              <a:t>ZSDODR_MASSREJ to clear the </a:t>
            </a:r>
            <a:r>
              <a:rPr lang="en"/>
              <a:t>items</a:t>
            </a:r>
            <a:r>
              <a:rPr lang="en"/>
              <a:t> that are blocked due to item level</a:t>
            </a:r>
            <a:endParaRPr/>
          </a:p>
          <a:p>
            <a:pPr indent="-311150" lvl="0" marL="457200" rtl="0" algn="l">
              <a:spcBef>
                <a:spcPts val="0"/>
              </a:spcBef>
              <a:spcAft>
                <a:spcPts val="0"/>
              </a:spcAft>
              <a:buSzPts val="1300"/>
              <a:buChar char="●"/>
            </a:pPr>
            <a:r>
              <a:rPr lang="en"/>
              <a:t>Send the clearing results to the CS via email (attach - .xlsx)</a:t>
            </a:r>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